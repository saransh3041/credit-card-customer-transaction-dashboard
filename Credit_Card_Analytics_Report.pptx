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D3D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D3D"/>
                </a:solidFill>
                <a:latin typeface="Arial"/>
              </a:rPr>
              <a:t>Monthly Revenue Trend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A8F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D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4.3</c:v>
                </c:pt>
                <c:pt idx="1">
                  <c:v>3.5</c:v>
                </c:pt>
                <c:pt idx="2">
                  <c:v>3.4</c:v>
                </c:pt>
                <c:pt idx="3">
                  <c:v>4.2</c:v>
                </c:pt>
                <c:pt idx="4">
                  <c:v>3.4</c:v>
                </c:pt>
                <c:pt idx="5">
                  <c:v>3.5</c:v>
                </c:pt>
                <c:pt idx="6">
                  <c:v>4.5</c:v>
                </c:pt>
                <c:pt idx="7">
                  <c:v>3.4</c:v>
                </c:pt>
                <c:pt idx="8">
                  <c:v>3.5</c:v>
                </c:pt>
                <c:pt idx="9">
                  <c:v>4.0999999999999996</c:v>
                </c:pt>
                <c:pt idx="10">
                  <c:v>3.4</c:v>
                </c:pt>
                <c:pt idx="11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5-475A-A0E7-D3555C3F84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D3D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D3D"/>
                </a:solidFill>
                <a:latin typeface="Arial"/>
              </a:rPr>
              <a:t>Spend by Category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Spendings ($M)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Travel</c:v>
                </c:pt>
                <c:pt idx="1">
                  <c:v>Food</c:v>
                </c:pt>
                <c:pt idx="2">
                  <c:v>Grocery</c:v>
                </c:pt>
                <c:pt idx="3">
                  <c:v>Fuel</c:v>
                </c:pt>
                <c:pt idx="4">
                  <c:v>Entertain.</c:v>
                </c:pt>
                <c:pt idx="5">
                  <c:v>Bills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6.8</c:v>
                </c:pt>
                <c:pt idx="2">
                  <c:v>7</c:v>
                </c:pt>
                <c:pt idx="3">
                  <c:v>7.7</c:v>
                </c:pt>
                <c:pt idx="4">
                  <c:v>7.8</c:v>
                </c:pt>
                <c:pt idx="5">
                  <c:v>11.2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23-42BB-ADA7-05CF7721B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92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62330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457200"/>
            <a:ext cx="2743200" cy="2743200"/>
          </a:xfrm>
          <a:prstGeom prst="ellipse">
            <a:avLst/>
          </a:prstGeom>
          <a:solidFill>
            <a:srgbClr val="0A8F7C">
              <a:alpha val="18000"/>
            </a:srgbClr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6616"/>
            <a:ext cx="2286000" cy="292608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7051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0682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Customer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23991" y="2242019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Transaction Analysis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23991" y="3183851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0023" y="3183851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6055" y="3183851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2087" y="3183851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8119" y="3183851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8316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insights across customer behavior,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performance, credit risk &amp; revenue optimization.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" y="5125212"/>
            <a:ext cx="9144000" cy="36576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35671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Saransh Goyal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078992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80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70432" y="1307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719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&amp; methodology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50592"/>
            <a:ext cx="64008" cy="1078992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5420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70432" y="2569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Approach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980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from raw to insight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12464"/>
            <a:ext cx="64008" cy="1078992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8039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70432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42428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transaction dashboards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64008" cy="1078992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1280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50992" y="1307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50992" y="1719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customers, risk &amp; spending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450592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450592"/>
            <a:ext cx="64008" cy="1078992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5420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650992" y="2569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50992" y="2980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 &amp; performance constraints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712464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712464"/>
            <a:ext cx="64008" cy="1078992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8039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650992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 Plan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50992" y="42428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690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69080" cy="420624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09728" cy="109728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dual dashboard consolidating customer behavior, transaction patterns &amp; credit risk exposure.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109728" cy="109728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5000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transactional &amp; customer data into actionable strategic insights.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109728" cy="109728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0837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demographics, financial metrics, and usage trends for a 360° business view.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712464"/>
            <a:ext cx="109728" cy="109728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667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drive marketing, risk management &amp; revenue optimization decisions.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143000"/>
            <a:ext cx="40690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43000"/>
            <a:ext cx="4069080" cy="420624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4572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7099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demographics &amp; credit behavior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4572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2585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profit &amp; transaction trends by period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4572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072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credit utilization &amp; financial risk exposure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383280"/>
            <a:ext cx="4572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355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segments for targeted marketing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3931920"/>
            <a:ext cx="4572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9044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data-driven decision-making at executive level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METHODOLOGY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57276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572768" cy="45720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98448"/>
            <a:ext cx="585216" cy="585216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984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615184"/>
            <a:ext cx="1060704" cy="27432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" y="2761488"/>
            <a:ext cx="91440" cy="91440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27157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 structure &amp; scope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" y="3328416"/>
            <a:ext cx="91440" cy="91440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328269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key fields &amp; metrics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" y="3895344"/>
            <a:ext cx="91440" cy="91440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8496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data quality issues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93392" y="1143000"/>
            <a:ext cx="157276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93392" y="1143000"/>
            <a:ext cx="1572768" cy="45720"/>
          </a:xfrm>
          <a:prstGeom prst="rect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6312" y="1298448"/>
            <a:ext cx="585216" cy="585216"/>
          </a:xfrm>
          <a:prstGeom prst="ellipse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12984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08483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49424" y="2615184"/>
            <a:ext cx="1060704" cy="27432"/>
          </a:xfrm>
          <a:prstGeom prst="rect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9696" y="2761488"/>
            <a:ext cx="91440" cy="91440"/>
          </a:xfrm>
          <a:prstGeom prst="ellipse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76856" y="27157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business objectives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39696" y="3328416"/>
            <a:ext cx="91440" cy="91440"/>
          </a:xfrm>
          <a:prstGeom prst="ellipse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76856" y="328269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KPI &amp; visual requirements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39696" y="3895344"/>
            <a:ext cx="91440" cy="91440"/>
          </a:xfrm>
          <a:prstGeom prst="ellipse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76856" y="38496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stakeholder user stories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12464" y="1143000"/>
            <a:ext cx="157276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12464" y="1143000"/>
            <a:ext cx="1572768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15384" y="1298448"/>
            <a:ext cx="585216" cy="58521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15384" y="12984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803904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68496" y="2615184"/>
            <a:ext cx="1060704" cy="274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58768" y="2761488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95928" y="27157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wireframe layouts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58768" y="332841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95928" y="328269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KPI cards &amp; slicers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58768" y="3895344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95928" y="38496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chart types for clarity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31536" y="1143000"/>
            <a:ext cx="157276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31536" y="1143000"/>
            <a:ext cx="1572768" cy="45720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34456" y="1298448"/>
            <a:ext cx="585216" cy="585216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34456" y="12984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522976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87568" y="2615184"/>
            <a:ext cx="1060704" cy="27432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77840" y="2761488"/>
            <a:ext cx="91440" cy="91440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27157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data model relationships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77840" y="3328416"/>
            <a:ext cx="91440" cy="91440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328269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KPI measures &amp; columns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50608" y="1143000"/>
            <a:ext cx="157276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150608" y="1143000"/>
            <a:ext cx="1572768" cy="457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53528" y="1298448"/>
            <a:ext cx="585216" cy="5852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53528" y="12984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242048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Delivery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06640" y="2615184"/>
            <a:ext cx="1060704" cy="2743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96912" y="2761488"/>
            <a:ext cx="91440" cy="9144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34072" y="27157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teal color theme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96912" y="3328416"/>
            <a:ext cx="91440" cy="9144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34072" y="328269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KPI cards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296912" y="3895344"/>
            <a:ext cx="91440" cy="9144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34072" y="384962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&amp; interactivity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CREDIT CARD CUSTOMER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58521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dashbo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1" y="1115568"/>
            <a:ext cx="6762187" cy="3721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11834" y="1115568"/>
            <a:ext cx="161212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97895" y="1095491"/>
            <a:ext cx="1052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10,293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97895" y="146145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211834" y="2053822"/>
            <a:ext cx="161212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97895" y="2112264"/>
            <a:ext cx="1113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5,914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10417" y="2478024"/>
            <a:ext cx="99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11834" y="3004798"/>
            <a:ext cx="161212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97895" y="3063240"/>
            <a:ext cx="1113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$45.53M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410417" y="3429000"/>
            <a:ext cx="99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11834" y="3955774"/>
            <a:ext cx="161212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97895" y="4014216"/>
            <a:ext cx="1113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3.19 / 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410417" y="4379976"/>
            <a:ext cx="99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9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C55E4E77-8DD6-8351-41DD-9DD7099221CB}"/>
              </a:ext>
            </a:extLst>
          </p:cNvPr>
          <p:cNvSpPr/>
          <p:nvPr/>
        </p:nvSpPr>
        <p:spPr>
          <a:xfrm>
            <a:off x="7221773" y="1127495"/>
            <a:ext cx="45719" cy="822960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80262785-A776-E59F-3FF9-BDFD5024572F}"/>
              </a:ext>
            </a:extLst>
          </p:cNvPr>
          <p:cNvSpPr/>
          <p:nvPr/>
        </p:nvSpPr>
        <p:spPr>
          <a:xfrm>
            <a:off x="7221773" y="2053822"/>
            <a:ext cx="64008" cy="822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DDFA4E80-E1BB-AF72-1635-478D573B9FB5}"/>
              </a:ext>
            </a:extLst>
          </p:cNvPr>
          <p:cNvSpPr/>
          <p:nvPr/>
        </p:nvSpPr>
        <p:spPr>
          <a:xfrm>
            <a:off x="7221773" y="3004798"/>
            <a:ext cx="64008" cy="822960"/>
          </a:xfrm>
          <a:prstGeom prst="rect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2F06B9CA-161D-ED11-96A3-32111B227521}"/>
              </a:ext>
            </a:extLst>
          </p:cNvPr>
          <p:cNvSpPr/>
          <p:nvPr/>
        </p:nvSpPr>
        <p:spPr>
          <a:xfrm>
            <a:off x="7221773" y="3955774"/>
            <a:ext cx="64008" cy="822960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TRANSACTION &amp; REVENUE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58521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dashbo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6811084" cy="3721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75442" y="1115568"/>
            <a:ext cx="154851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68284" y="1115568"/>
            <a:ext cx="64008" cy="822960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87156" y="11612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$45.53M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42020" y="15270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275442" y="2066544"/>
            <a:ext cx="154851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68284" y="2066544"/>
            <a:ext cx="64008" cy="822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87156" y="21122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42020" y="2478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75442" y="3017520"/>
            <a:ext cx="154851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68284" y="3017520"/>
            <a:ext cx="64008" cy="822960"/>
          </a:xfrm>
          <a:prstGeom prst="rect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87156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$10.98M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44202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75442" y="3968496"/>
            <a:ext cx="154851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268284" y="3968496"/>
            <a:ext cx="64008" cy="8229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87156" y="40142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$7.98M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442020" y="4379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Interest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PERFORMANCE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842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984248" cy="64008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10,293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5,914 Active (57%)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41448" y="1115568"/>
            <a:ext cx="19842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115568"/>
            <a:ext cx="1984248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37160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$45.53M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32888" y="20299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32888" y="23317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667K Transactions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115568"/>
            <a:ext cx="19842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115568"/>
            <a:ext cx="1984248" cy="64008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37160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$10.98M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00016" y="20299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016" y="23317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from Interest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75704" y="1115568"/>
            <a:ext cx="19842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115568"/>
            <a:ext cx="1984248" cy="6400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137160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67144" y="20299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67144" y="23317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$8.64K Avg Credit Limit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2788920"/>
          <a:ext cx="55778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1"/>
          <p:cNvGraphicFramePr/>
          <p:nvPr/>
        </p:nvGraphicFramePr>
        <p:xfrm>
          <a:off x="6080760" y="2788920"/>
          <a:ext cx="28346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160520" cy="384048"/>
          </a:xfrm>
          <a:prstGeom prst="rect">
            <a:avLst/>
          </a:prstGeom>
          <a:solidFill>
            <a:srgbClr val="0A8F7C">
              <a:alpha val="10000"/>
            </a:srgbClr>
          </a:solidFill>
          <a:ln w="6350">
            <a:solidFill>
              <a:srgbClr val="0A8F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1737360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95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636776"/>
            <a:ext cx="82296" cy="82296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581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peaks at mid-month — prime campaign window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929384"/>
            <a:ext cx="82296" cy="82296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 correlation: customer spend drives company profit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221992"/>
            <a:ext cx="82296" cy="82296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167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$10.98M total profit — 72% directly from interest income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514600"/>
            <a:ext cx="82296" cy="82296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459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($11.2M) is the #1 spending category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15568"/>
            <a:ext cx="4160520" cy="384048"/>
          </a:xfrm>
          <a:prstGeom prst="rect">
            <a:avLst/>
          </a:prstGeom>
          <a:solidFill>
            <a:srgbClr val="D4A843">
              <a:alpha val="1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15568"/>
            <a:ext cx="64008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1795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10328" y="1636776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1581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aged 36–55 — peak earning cohort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10328" y="1929384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represent 58% of the base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10328" y="2221992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167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57% of cards activated — 43% untapped revenue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0328" y="2514600"/>
            <a:ext cx="82296" cy="8229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459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Middle-class ($50K–$100K) dominates activations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03580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35808"/>
            <a:ext cx="4160520" cy="384048"/>
          </a:xfrm>
          <a:prstGeom prst="rect">
            <a:avLst/>
          </a:prstGeom>
          <a:solidFill>
            <a:srgbClr val="D64045">
              <a:alpha val="10000"/>
            </a:srgbClr>
          </a:solidFill>
          <a:ln w="6350">
            <a:solidFill>
              <a:srgbClr val="D640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035808"/>
            <a:ext cx="64008" cy="17373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99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Credit Utilization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" y="3557016"/>
            <a:ext cx="82296" cy="8229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Middle-income group shows highest utilization (~40%)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" y="3849624"/>
            <a:ext cx="82296" cy="8229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stability &amp; risk correlate positively (0.58)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" y="4142232"/>
            <a:ext cx="82296" cy="8229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 hold major stake in total base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" y="4434840"/>
            <a:ext cx="82296" cy="8229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stability = higher risk exposure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03580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035808"/>
            <a:ext cx="4160520" cy="384048"/>
          </a:xfrm>
          <a:prstGeom prst="rect">
            <a:avLst/>
          </a:prstGeom>
          <a:solidFill>
            <a:srgbClr val="E07B30">
              <a:alpha val="10000"/>
            </a:srgbClr>
          </a:solidFill>
          <a:ln w="6350">
            <a:solidFill>
              <a:srgbClr val="E07B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035808"/>
            <a:ext cx="64008" cy="1737360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099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&amp; Transaction Behavior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10328" y="3557016"/>
            <a:ext cx="82296" cy="82296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47488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$11.2M spent on bills — largest single expense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10328" y="3849624"/>
            <a:ext cx="82296" cy="82296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customers prefer Swipe payment method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10328" y="4142232"/>
            <a:ext cx="82296" cy="82296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47488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card holders generate highest profit ($9.3M)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10328" y="4434840"/>
            <a:ext cx="82296" cy="82296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47488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risk positively correlated across risk bins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encountered during data analysis &amp; dashboard development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777240"/>
          </a:xfrm>
          <a:prstGeom prst="rect">
            <a:avLst/>
          </a:prstGeom>
          <a:solidFill>
            <a:srgbClr val="16233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53312"/>
            <a:ext cx="64008" cy="7772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2646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26680" y="1581912"/>
            <a:ext cx="914400" cy="256032"/>
          </a:xfrm>
          <a:prstGeom prst="rect">
            <a:avLst/>
          </a:prstGeom>
          <a:solidFill>
            <a:srgbClr val="D64045">
              <a:alpha val="25000"/>
            </a:srgbClr>
          </a:solidFill>
          <a:ln w="635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14356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755648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columns missing or incomplete — client total loan, granular location data &amp; detailed revenue breakdown — limited depth of segment-level analysis.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8412480" cy="777240"/>
          </a:xfrm>
          <a:prstGeom prst="rect">
            <a:avLst/>
          </a:prstGeom>
          <a:solidFill>
            <a:srgbClr val="16233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67712"/>
            <a:ext cx="6400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4086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26680" y="2496312"/>
            <a:ext cx="914400" cy="256032"/>
          </a:xfrm>
          <a:prstGeom prst="rect">
            <a:avLst/>
          </a:prstGeom>
          <a:solidFill>
            <a:srgbClr val="D4A843">
              <a:alpha val="2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496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" y="2350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Bottlenecks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670048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row/column count slowed dashboard load times. Complex DAX measures &amp; calculated columns required careful optimization to maintain acceptable query performance.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8412480" cy="777240"/>
          </a:xfrm>
          <a:prstGeom prst="rect">
            <a:avLst/>
          </a:prstGeom>
          <a:solidFill>
            <a:srgbClr val="16233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82112"/>
            <a:ext cx="64008" cy="777240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25526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726680" y="3410712"/>
            <a:ext cx="914400" cy="256032"/>
          </a:xfrm>
          <a:prstGeom prst="rect">
            <a:avLst/>
          </a:prstGeom>
          <a:solidFill>
            <a:srgbClr val="0A8F7C">
              <a:alpha val="25000"/>
            </a:srgbClr>
          </a:solidFill>
          <a:ln w="6350">
            <a:solidFill>
              <a:srgbClr val="0A8F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1560" y="32644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Behavioral Trend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584448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longitudinal data restricted the ability to track individual customer behavioral trends and build predictive churn or spending models.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8412480" cy="777240"/>
          </a:xfrm>
          <a:prstGeom prst="rect">
            <a:avLst/>
          </a:prstGeom>
          <a:solidFill>
            <a:srgbClr val="16233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096512"/>
            <a:ext cx="64008" cy="777240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416966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726680" y="4325112"/>
            <a:ext cx="914400" cy="256032"/>
          </a:xfrm>
          <a:prstGeom prst="rect">
            <a:avLst/>
          </a:prstGeom>
          <a:solidFill>
            <a:srgbClr val="7A9BB5">
              <a:alpha val="25000"/>
            </a:srgbClr>
          </a:solidFill>
          <a:ln w="6350">
            <a:solidFill>
              <a:srgbClr val="7A9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4325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1560" y="4178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Activation Rate Gap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498848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57% card activation, nearly half the customer base remains analytically invisible — limiting revenue forecasting accuracy and targeted campaign reach.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694944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80160"/>
            <a:ext cx="329184" cy="329184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1307592"/>
            <a:ext cx="1463040" cy="256032"/>
          </a:xfrm>
          <a:prstGeom prst="rect">
            <a:avLst/>
          </a:prstGeom>
          <a:solidFill>
            <a:srgbClr val="0A8F7C">
              <a:alpha val="15000"/>
            </a:srgbClr>
          </a:solidFill>
          <a:ln w="6350">
            <a:solidFill>
              <a:srgbClr val="0A8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307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32688" y="1179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Campaign Activation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148132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EMI offers &amp; promotions during peak mid-month windows to maximize transaction volume and revenue capture.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883664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83664"/>
            <a:ext cx="64008" cy="69494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066544"/>
            <a:ext cx="329184" cy="32918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2093976"/>
            <a:ext cx="1463040" cy="256032"/>
          </a:xfrm>
          <a:prstGeom prst="rect">
            <a:avLst/>
          </a:prstGeom>
          <a:solidFill>
            <a:srgbClr val="D64045">
              <a:alpha val="15000"/>
            </a:srgbClr>
          </a:solidFill>
          <a:ln w="6350">
            <a:solidFill>
              <a:srgbClr val="D640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093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MGMT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2688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Credit Risk Monitoring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2688" y="226771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utilization alerts &amp; strategically price interest to balance profitability against default risk exposure.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70048"/>
            <a:ext cx="64008" cy="69494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28529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2880360"/>
            <a:ext cx="1463040" cy="256032"/>
          </a:xfrm>
          <a:prstGeom prst="rect">
            <a:avLst/>
          </a:prstGeom>
          <a:solidFill>
            <a:srgbClr val="D4A843">
              <a:alpha val="1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880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32688" y="2752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Activation Drive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2688" y="3054096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43% inactive customer base with personalized outreach and onboarding incentives to unlock significant untapped revenue.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456432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56432"/>
            <a:ext cx="64008" cy="694944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3639312"/>
            <a:ext cx="329184" cy="329184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23760" y="3666744"/>
            <a:ext cx="1463040" cy="256032"/>
          </a:xfrm>
          <a:prstGeom prst="rect">
            <a:avLst/>
          </a:prstGeom>
          <a:solidFill>
            <a:srgbClr val="E07B30">
              <a:alpha val="15000"/>
            </a:srgbClr>
          </a:solidFill>
          <a:ln w="6350">
            <a:solidFill>
              <a:srgbClr val="E07B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666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32688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Credit Enhancement Program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32688" y="384048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tiered credit limit upgrades and reward structures for high-engagement customers to increase retention and grow wallet share.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242816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242816"/>
            <a:ext cx="64008" cy="694944"/>
          </a:xfrm>
          <a:prstGeom prst="rect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4425696"/>
            <a:ext cx="329184" cy="329184"/>
          </a:xfrm>
          <a:prstGeom prst="ellipse">
            <a:avLst/>
          </a:prstGeom>
          <a:solidFill>
            <a:srgbClr val="0DB89E"/>
          </a:solidFill>
          <a:ln w="12700">
            <a:solidFill>
              <a:srgbClr val="0DB8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4453128"/>
            <a:ext cx="1463040" cy="256032"/>
          </a:xfrm>
          <a:prstGeom prst="rect">
            <a:avLst/>
          </a:prstGeom>
          <a:solidFill>
            <a:srgbClr val="0DB89E">
              <a:alpha val="15000"/>
            </a:srgbClr>
          </a:solidFill>
          <a:ln w="6350">
            <a:solidFill>
              <a:srgbClr val="0DB8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4453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32688" y="4325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Provider Partnerships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32688" y="4626864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utility &amp; bills providers for card-exclusive rewards — leveraging the $11.2M bills category to drive transaction frequency.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95806" y="629615"/>
            <a:ext cx="4254940" cy="4052113"/>
          </a:xfrm>
          <a:prstGeom prst="ellipse">
            <a:avLst/>
          </a:prstGeom>
          <a:solidFill>
            <a:srgbClr val="162330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4452" y="1152144"/>
            <a:ext cx="2743200" cy="2743200"/>
          </a:xfrm>
          <a:prstGeom prst="ellipse">
            <a:avLst/>
          </a:prstGeom>
          <a:solidFill>
            <a:srgbClr val="0A8F7C">
              <a:alpha val="12000"/>
            </a:srgbClr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KEY TAKEAWAYS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200400" cy="45720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dashboards consolidate critical financial, behavioral &amp; risk insights — enabling segment-level strategy and executive-level decision making.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146304" cy="146304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4688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Revenue–risk correlation enables smarter interest rate pricing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146304" cy="146304"/>
          </a:xfrm>
          <a:prstGeom prst="ellipse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9443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spending peaks = clear campaign timing opportunity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146304" cy="14630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4198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inactive base represents significant untapped 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146304" cy="14630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8953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&amp; utilities dominate spend — ideal for partner rewards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74820"/>
            <a:ext cx="4572000" cy="662940"/>
          </a:xfrm>
          <a:prstGeom prst="rect">
            <a:avLst/>
          </a:prstGeom>
          <a:solidFill>
            <a:srgbClr val="16233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74820"/>
            <a:ext cx="64008" cy="662940"/>
          </a:xfrm>
          <a:prstGeom prst="rect">
            <a:avLst/>
          </a:prstGeom>
          <a:solidFill>
            <a:srgbClr val="0A8F7C"/>
          </a:solidFill>
          <a:ln w="12700">
            <a:solidFill>
              <a:srgbClr val="0A8F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839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Saransh Goyal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5537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Analytics  |  Credit Card Customer &amp; Transaction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55974" y="1554481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5303520" y="2560320"/>
            <a:ext cx="3452854" cy="949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840</Words>
  <Application>Microsoft Office PowerPoint</Application>
  <PresentationFormat>On-screen Show (16:9)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Customer &amp; Transaction Analysis</dc:title>
  <dc:subject>PptxGenJS Presentation</dc:subject>
  <dc:creator>Saransh Goyal</dc:creator>
  <cp:lastModifiedBy>goyalsaransh61@gmail.com</cp:lastModifiedBy>
  <cp:revision>4</cp:revision>
  <dcterms:created xsi:type="dcterms:W3CDTF">2026-03-23T10:26:58Z</dcterms:created>
  <dcterms:modified xsi:type="dcterms:W3CDTF">2026-03-23T12:13:30Z</dcterms:modified>
</cp:coreProperties>
</file>